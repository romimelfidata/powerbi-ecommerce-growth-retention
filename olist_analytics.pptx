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R$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Sep 16</c:v>
                  </c:pt>
                  <c:pt idx="1">
                    <c:v>Oct 16</c:v>
                  </c:pt>
                  <c:pt idx="2">
                    <c:v>Dic 16</c:v>
                  </c:pt>
                  <c:pt idx="3">
                    <c:v>Ene 17</c:v>
                  </c:pt>
                  <c:pt idx="4">
                    <c:v>Feb 17</c:v>
                  </c:pt>
                  <c:pt idx="5">
                    <c:v>Mar 17</c:v>
                  </c:pt>
                  <c:pt idx="6">
                    <c:v>Abr 17</c:v>
                  </c:pt>
                  <c:pt idx="7">
                    <c:v>May 17</c:v>
                  </c:pt>
                  <c:pt idx="8">
                    <c:v>Jun 17</c:v>
                  </c:pt>
                  <c:pt idx="9">
                    <c:v>Jul 17</c:v>
                  </c:pt>
                  <c:pt idx="10">
                    <c:v>Ago 17</c:v>
                  </c:pt>
                  <c:pt idx="11">
                    <c:v>Sep 17</c:v>
                  </c:pt>
                  <c:pt idx="12">
                    <c:v>Oct 17</c:v>
                  </c:pt>
                  <c:pt idx="13">
                    <c:v>Nov 17</c:v>
                  </c:pt>
                  <c:pt idx="14">
                    <c:v>Dic 17</c:v>
                  </c:pt>
                  <c:pt idx="15">
                    <c:v>Ene 18</c:v>
                  </c:pt>
                  <c:pt idx="16">
                    <c:v>Feb 18</c:v>
                  </c:pt>
                  <c:pt idx="17">
                    <c:v>Mar 18</c:v>
                  </c:pt>
                  <c:pt idx="18">
                    <c:v>Abr 18</c:v>
                  </c:pt>
                  <c:pt idx="19">
                    <c:v>May 18</c:v>
                  </c:pt>
                  <c:pt idx="20">
                    <c:v>Jun 18</c:v>
                  </c:pt>
                  <c:pt idx="21">
                    <c:v>Jul 18</c:v>
                  </c:pt>
                  <c:pt idx="22">
                    <c:v>Ago 18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267</c:v>
                </c:pt>
                <c:pt idx="1">
                  <c:v>49508</c:v>
                </c:pt>
                <c:pt idx="2">
                  <c:v>11</c:v>
                </c:pt>
                <c:pt idx="3">
                  <c:v>120313</c:v>
                </c:pt>
                <c:pt idx="4">
                  <c:v>247303</c:v>
                </c:pt>
                <c:pt idx="5">
                  <c:v>374344</c:v>
                </c:pt>
                <c:pt idx="6">
                  <c:v>359927</c:v>
                </c:pt>
                <c:pt idx="7">
                  <c:v>506071</c:v>
                </c:pt>
                <c:pt idx="8">
                  <c:v>433039</c:v>
                </c:pt>
                <c:pt idx="9">
                  <c:v>498031</c:v>
                </c:pt>
                <c:pt idx="10">
                  <c:v>573972</c:v>
                </c:pt>
                <c:pt idx="11">
                  <c:v>624402</c:v>
                </c:pt>
                <c:pt idx="12">
                  <c:v>664219</c:v>
                </c:pt>
                <c:pt idx="13">
                  <c:v>1010271</c:v>
                </c:pt>
                <c:pt idx="14">
                  <c:v>743914</c:v>
                </c:pt>
                <c:pt idx="15">
                  <c:v>950030</c:v>
                </c:pt>
                <c:pt idx="16">
                  <c:v>844179</c:v>
                </c:pt>
                <c:pt idx="17">
                  <c:v>983213</c:v>
                </c:pt>
                <c:pt idx="18">
                  <c:v>996648</c:v>
                </c:pt>
                <c:pt idx="19">
                  <c:v>996518</c:v>
                </c:pt>
                <c:pt idx="20">
                  <c:v>865124</c:v>
                </c:pt>
                <c:pt idx="21">
                  <c:v>895507</c:v>
                </c:pt>
                <c:pt idx="22">
                  <c:v>854686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R$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B0B8C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Salud &amp; Belleza</c:v>
                  </c:pt>
                  <c:pt idx="1">
                    <c:v>Relojes &amp; Regalos</c:v>
                  </c:pt>
                  <c:pt idx="2">
                    <c:v>Hogar &amp; Baño</c:v>
                  </c:pt>
                  <c:pt idx="3">
                    <c:v>Deporte &amp; Ocio</c:v>
                  </c:pt>
                  <c:pt idx="4">
                    <c:v>Computadoras</c:v>
                  </c:pt>
                  <c:pt idx="5">
                    <c:v>Muebles &amp; Deco</c:v>
                  </c:pt>
                  <c:pt idx="6">
                    <c:v>Cool Stuff</c:v>
                  </c:pt>
                  <c:pt idx="7">
                    <c:v>Artículos Hogar</c:v>
                  </c:pt>
                  <c:pt idx="8">
                    <c:v>Automotriz</c:v>
                  </c:pt>
                  <c:pt idx="9">
                    <c:v>Jardín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1258681</c:v>
                </c:pt>
                <c:pt idx="1">
                  <c:v>1205006</c:v>
                </c:pt>
                <c:pt idx="2">
                  <c:v>1036989</c:v>
                </c:pt>
                <c:pt idx="3">
                  <c:v>988049</c:v>
                </c:pt>
                <c:pt idx="4">
                  <c:v>911954</c:v>
                </c:pt>
                <c:pt idx="5">
                  <c:v>729762</c:v>
                </c:pt>
                <c:pt idx="6">
                  <c:v>635291</c:v>
                </c:pt>
                <c:pt idx="7">
                  <c:v>632249</c:v>
                </c:pt>
                <c:pt idx="8">
                  <c:v>592720</c:v>
                </c:pt>
                <c:pt idx="9">
                  <c:v>485256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B0B8C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F9C7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B0B8C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GO</c:v>
                  </c:pt>
                  <c:pt idx="1">
                    <c:v>ES</c:v>
                  </c:pt>
                  <c:pt idx="2">
                    <c:v>DF</c:v>
                  </c:pt>
                  <c:pt idx="3">
                    <c:v>BA</c:v>
                  </c:pt>
                  <c:pt idx="4">
                    <c:v>SC</c:v>
                  </c:pt>
                  <c:pt idx="5">
                    <c:v>PR</c:v>
                  </c:pt>
                  <c:pt idx="6">
                    <c:v>RS</c:v>
                  </c:pt>
                  <c:pt idx="7">
                    <c:v>MG</c:v>
                  </c:pt>
                  <c:pt idx="8">
                    <c:v>RJ</c:v>
                  </c:pt>
                  <c:pt idx="9">
                    <c:v>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2020</c:v>
                </c:pt>
                <c:pt idx="1">
                  <c:v>2033</c:v>
                </c:pt>
                <c:pt idx="2">
                  <c:v>2140</c:v>
                </c:pt>
                <c:pt idx="3">
                  <c:v>3380</c:v>
                </c:pt>
                <c:pt idx="4">
                  <c:v>3637</c:v>
                </c:pt>
                <c:pt idx="5">
                  <c:v>5045</c:v>
                </c:pt>
                <c:pt idx="6">
                  <c:v>5466</c:v>
                </c:pt>
                <c:pt idx="7">
                  <c:v>11635</c:v>
                </c:pt>
                <c:pt idx="8">
                  <c:v>12852</c:v>
                </c:pt>
                <c:pt idx="9">
                  <c:v>41746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B0B8C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8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Pagos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9C74F"/>
              </a:solidFill>
              <a:effectLst/>
            </c:spPr>
          </c:dPt>
          <c:dPt>
            <c:idx val="2"/>
            <c:bubble3D val="0"/>
            <c:spPr>
              <a:solidFill>
                <a:srgbClr val="48CAE4"/>
              </a:solidFill>
              <a:effectLst/>
            </c:spPr>
          </c:dPt>
          <c:dPt>
            <c:idx val="3"/>
            <c:bubble3D val="0"/>
            <c:spPr>
              <a:solidFill>
                <a:srgbClr val="43AA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0D1A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0D1A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0D1A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0D1A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Tarjeta Crédito</c:v>
                </c:pt>
                <c:pt idx="1">
                  <c:v>Boleto Bancário</c:v>
                </c:pt>
                <c:pt idx="2">
                  <c:v>Voucher</c:v>
                </c:pt>
                <c:pt idx="3">
                  <c:v>Tarjeta Débito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76795</c:v>
                </c:pt>
                <c:pt idx="1">
                  <c:v>19784</c:v>
                </c:pt>
                <c:pt idx="2">
                  <c:v>5775</c:v>
                </c:pt>
                <c:pt idx="3">
                  <c:v>1529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8C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82880"/>
            <a:ext cx="3200400" cy="3200400"/>
          </a:xfrm>
          <a:prstGeom prst="ellipse">
            <a:avLst/>
          </a:prstGeom>
          <a:solidFill>
            <a:srgbClr val="48CAE4">
              <a:alpha val="8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155448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2016–2018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Olist E-Commerce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del marketplace, desempeño logístico,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cliente y oportunidades de crecimiento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62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99,441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4764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totales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57400" y="4462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R$ 16M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57400" y="4764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acum.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0" y="4462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4.09 / 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4764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promedio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23560" y="4462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93.2%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23560" y="4764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a tiempo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06640" y="4462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3,095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4764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EJECUTIVO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1206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es el marketplace de e-commerce más grande de Brasil. La plataforma conecta pequeños comercios con grandes canales de distribución, operando en todo el territorio nacional con cobertura en 26 estados.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512064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73152" cy="14173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análisis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patrones de crecimiento, categorías con mayor potencial de revenue, comportamiento de pago de los compradores, desempeño logístico y nivel de satisfacción del cliente para apoyar decisiones estratégicas.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5120640" cy="685800"/>
          </a:xfrm>
          <a:prstGeom prst="rect">
            <a:avLst/>
          </a:prstGeom>
          <a:solidFill>
            <a:srgbClr val="1621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06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analizado: Septiembre 2016 – Agosto 2018  ·  Dataset: Kaggle / Olist Stores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25146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63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creció el negocio mes a mes?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384048" cy="38404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560320"/>
            <a:ext cx="25146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5603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categorías y estados concentran el revenue?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611880"/>
            <a:ext cx="384048" cy="38404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657600"/>
            <a:ext cx="25146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657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experiencia del cliente y la eficiencia logística?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PRINCIPALES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globales del período 2016–2018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R$ 16M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2016–2018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15361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99,441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Totales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267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entregados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80760" y="15361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96,096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8076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267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estados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80360"/>
            <a:ext cx="2651760" cy="54864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0040" y="3410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4.09 / 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004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Reseñas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142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99,224 reviews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036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88036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200400" y="3410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93.2%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20040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Tiempo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4142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−11.9 días prom.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880360"/>
            <a:ext cx="265176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080760" y="34107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3,095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8076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4142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 en SP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INGRESOS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mensual (R$) · 2016–2018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8503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206240"/>
            <a:ext cx="40233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Black Friday Nov 2017:</a:t>
            </a:r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Pico de R$1.01M — mayor mes del período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80560" y="4206240"/>
            <a:ext cx="43891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4251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Crecimiento 8×:</a:t>
            </a:r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R$120k (Ene 2017) a R$997k (Abr 2018)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CATEGORÍAS POR INGRESO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categorías con mayor revenue acumulado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5486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8932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destacadas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89320" y="1325880"/>
            <a:ext cx="292608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325880"/>
            <a:ext cx="54864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417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&amp; Belleza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16733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R$ 1.26M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72200" y="1938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líder en revenue total con alta frecuencia de compra.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2514600"/>
            <a:ext cx="292608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2514600"/>
            <a:ext cx="54864" cy="10515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606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Relojes &amp; Regalos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2862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R$ 1.21M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72200" y="3127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ticket promedio, ideal para estrategias de upselling.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89320" y="3703320"/>
            <a:ext cx="292608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9320" y="3703320"/>
            <a:ext cx="54864" cy="10515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3794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Hogar &amp; Baño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72200" y="40507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R$ 1.04M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4315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pedidos #1 con 11,115 órdenes — gran base de demanda.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GEOGRÁFICA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por estado brasileño — Top 10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50292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regional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325880"/>
            <a:ext cx="33375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463040"/>
            <a:ext cx="594360" cy="59436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São Paulo  ·  42.0%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Epicentro del comercio. 41,746 pedidos — más que todos los demás estados juntos.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514600"/>
            <a:ext cx="33375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651760"/>
            <a:ext cx="594360" cy="59436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RJ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Rio de Janeiro  ·  12.9%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2907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plaza. Hub turístico con demanda diversificada de categorías.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77840" y="3703320"/>
            <a:ext cx="33375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3840480"/>
            <a:ext cx="594360" cy="59436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9360" y="38221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Minas Gerais  ·  11.7%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09360" y="40965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estado en volumen con potencial de crecimiento en interior.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PAGO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de pago de los compradores en Olist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método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0" y="1325880"/>
            <a:ext cx="393192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32588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02352" y="13990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Tarjeta de Crédito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96912" y="13716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74.0%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02352" y="1655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76,795 pedidos  ·  Método dominante. Las cuotas facilitan compras de mayor ticket.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37760" y="2240280"/>
            <a:ext cx="393192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240280"/>
            <a:ext cx="54864" cy="77724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23134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Boleto Bancário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96912" y="2286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19.1%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02352" y="2569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19,784 pedidos  ·  Muy popular en Brasil, especialmente en segmentos sin bancarizar.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37760" y="3154680"/>
            <a:ext cx="393192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3154680"/>
            <a:ext cx="54864" cy="7772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32278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Voucher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96912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5.6%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102352" y="3483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5,775 pedidos  ·  Programas de fidelización y cupones de descuento.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937760" y="4069080"/>
            <a:ext cx="393192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37760" y="4069080"/>
            <a:ext cx="54864" cy="777240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02352" y="41422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Tarjeta Débito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96912" y="4114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102352" y="4398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 pedidos  ·  Mínima participación — oportunidad de impulso.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CLIENTE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reseñas y categorías con mejor / peor rating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103120" cy="2103120"/>
          </a:xfrm>
          <a:prstGeom prst="ellipse">
            <a:avLst/>
          </a:prstGeom>
          <a:solidFill>
            <a:srgbClr val="1A1A2E"/>
          </a:solidFill>
          <a:ln w="38100">
            <a:solidFill>
              <a:srgbClr val="F9C7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 estrellas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005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32004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1849074" cy="201168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57.3k  (58%)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755648"/>
            <a:ext cx="32004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755648"/>
            <a:ext cx="61741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64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19.1k  (19%)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23225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414016"/>
            <a:ext cx="32004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414016"/>
            <a:ext cx="263808" cy="2011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3225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8.2k  (8%)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29809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072384"/>
            <a:ext cx="32004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072384"/>
            <a:ext cx="101633" cy="201168"/>
          </a:xfrm>
          <a:prstGeom prst="rect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980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3.2k  (3%)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639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730752"/>
            <a:ext cx="3200400" cy="20116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730752"/>
            <a:ext cx="368473" cy="201168"/>
          </a:xfrm>
          <a:prstGeom prst="rect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639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11.4k  (12%)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206240"/>
            <a:ext cx="406908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206240"/>
            <a:ext cx="54864" cy="640080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Mejor calificadas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CDs/DVDs (4.64) · Ropa infantil (4.50) · Libros interés gral. (4.45)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4206240"/>
            <a:ext cx="42519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206240"/>
            <a:ext cx="54864" cy="640080"/>
          </a:xfrm>
          <a:prstGeom prst="rect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51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Peor calificadas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Seguridad/Servicios (2.5) · Pañales (3.26) · Muebles oficina (3.49)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LOGÍSTICO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entrega y estado de pedidos — período 2016–2018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84048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3840480" cy="54864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3A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Entrega a Tiempo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93.2%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pedidos entregados antes o en la fecha prometida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384048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291840"/>
            <a:ext cx="384048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10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promedio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−11.9 días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llegan casi 12 días antes de lo prometido en promedio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960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pedidos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1371600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371600"/>
            <a:ext cx="2103120" cy="45720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96.9%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38912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22494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1371600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1371600"/>
            <a:ext cx="21031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7512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22494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1,107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2670048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2670048"/>
            <a:ext cx="2103120" cy="45720"/>
          </a:xfrm>
          <a:prstGeom prst="rect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8072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41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389120" y="3310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35478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670048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2670048"/>
            <a:ext cx="2103120" cy="457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8072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75120" y="3310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35478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89120" y="3968496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3968496"/>
            <a:ext cx="2103120" cy="45720"/>
          </a:xfrm>
          <a:prstGeom prst="rect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41056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38912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Facturado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89120" y="48463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75120" y="3968496"/>
            <a:ext cx="210312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3968496"/>
            <a:ext cx="2103120" cy="45720"/>
          </a:xfrm>
          <a:prstGeom prst="rect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1056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0.3%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67512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Procesando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75120" y="48463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&amp; RECOMENDACIONES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de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Capitalizar el crecimiento sostenido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3716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ingresos crecieron 8× en 18 meses. Se recomienda invertir en infraestructura logística y tecnología para sostener la escala en 2019+.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54864" cy="11430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051560"/>
            <a:ext cx="384048" cy="38404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76672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Enfocarse en las categorías top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13716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&amp; Belleza, Relojes/Regalos y Hogar &amp; Baño suman R$3.5M. Desarrollar stock, SLAs y campañas segmentadas para estos segmentos.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40280"/>
            <a:ext cx="54864" cy="11430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Aprovechar la dominancia de São Paulo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" y="26974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concentra el 42% de pedidos. Optimizar centros de distribución locales y considerar expansión hacia RJ y MG como mercados de alto potencial.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40280"/>
            <a:ext cx="54864" cy="1143000"/>
          </a:xfrm>
          <a:prstGeom prst="rect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377440"/>
            <a:ext cx="384048" cy="384048"/>
          </a:xfrm>
          <a:prstGeom prst="ellipse">
            <a:avLst/>
          </a:prstGeom>
          <a:solidFill>
            <a:srgbClr val="F94144"/>
          </a:solidFill>
          <a:ln w="12700">
            <a:solidFill>
              <a:srgbClr val="F941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41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Mejorar categorías con bajo rating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26974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(2.5★), Pañales (3.26★) y Muebles oficina (3.49★) presentan riesgo de abandono. Auditar calidad y tiempos de entrega en estos segmentos.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66160"/>
            <a:ext cx="54864" cy="1143000"/>
          </a:xfrm>
          <a:prstGeom prst="rect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43AA8B"/>
          </a:solidFill>
          <a:ln w="12700">
            <a:solidFill>
              <a:srgbClr val="43AA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A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Fortalecer la experiencia de crédito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" y="402336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paga con tarjeta de crédito. Explorar BNPL, cashback y promociones con bancos para aumentar conversión y ticket promedio.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420624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56616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703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Mantener la ventaja logística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02336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93.2% de entrega a tiempo es una ventaja competitiva clave. Comunicarlo en campañas de marketing y como argumento de confianza.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</dc:title>
  <dc:subject>PptxGenJS Presentation</dc:subject>
  <dc:creator>PptxGenJS</dc:creator>
  <cp:lastModifiedBy>PptxGenJS</cp:lastModifiedBy>
  <cp:revision>1</cp:revision>
  <dcterms:created xsi:type="dcterms:W3CDTF">2026-02-21T14:01:52Z</dcterms:created>
  <dcterms:modified xsi:type="dcterms:W3CDTF">2026-02-21T14:01:52Z</dcterms:modified>
</cp:coreProperties>
</file>